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63870669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63870669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6396f270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6396f270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6396f270c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6396f270c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6396f270c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6396f270c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6396f270c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6396f270c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6396f270c_3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6396f270c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6396f270c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6396f270c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6396f270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6396f270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6396f270c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6396f270c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6396f270c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6396f270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6396f270c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6396f270c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6396f270c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6396f270c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6396f270c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6396f270c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6396f270c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6396f270c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6396f270c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6396f270c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6396f270c_9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6396f270c_9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6396f270c_9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6396f270c_9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6396f270c_9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6396f270c_9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6396f270c_9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6396f270c_9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6396f270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6396f270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6396f270c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6396f270c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6396f270c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6396f270c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6396f270c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6396f270c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6396f270c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6396f270c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6396f270c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6396f270c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6396f270c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6396f270c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6396f270c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6396f270c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6396f270c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6396f270c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6396f270c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6396f270c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6396f270c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6396f270c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6396f270c_3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6396f270c_3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396f270c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6396f270c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6396f270c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6396f270c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6396f270c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6396f270c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6396f270c_9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6396f270c_9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Fusion Methods for Estimating Funding Impacts on Educational outcomes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2080">
                <a:solidFill>
                  <a:schemeClr val="dk1"/>
                </a:solidFill>
              </a:rPr>
              <a:t>CIS - 635</a:t>
            </a:r>
            <a:endParaRPr sz="208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080">
                <a:solidFill>
                  <a:schemeClr val="dk1"/>
                </a:solidFill>
              </a:rPr>
              <a:t>Group: 9</a:t>
            </a:r>
            <a:endParaRPr sz="208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2080">
                <a:solidFill>
                  <a:schemeClr val="dk1"/>
                </a:solidFill>
              </a:rPr>
              <a:t>Team Members:</a:t>
            </a:r>
            <a:endParaRPr b="1" sz="208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080">
                <a:solidFill>
                  <a:schemeClr val="dk1"/>
                </a:solidFill>
              </a:rPr>
              <a:t>Alysha Nadeem, Ishra Naznin, </a:t>
            </a:r>
            <a:endParaRPr sz="208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080">
                <a:solidFill>
                  <a:schemeClr val="dk1"/>
                </a:solidFill>
              </a:rPr>
              <a:t>MD Imran Khaled, Kenaniah Williams</a:t>
            </a:r>
            <a:endParaRPr sz="208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0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/>
              <a:t>Introduction</a:t>
            </a:r>
            <a:endParaRPr sz="2720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2324000"/>
            <a:ext cx="8520600" cy="22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Public Education is funded by federal, state, and municipal sources, which are raised via taxes. 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Municipalities often use proerty taxes leading to geographic discrepancies in education funding. 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Allocated funds are often descripbed in per-pupil terms.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Not all costs that a district face are a direct multiple of the student population.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 intend to test Per-pupil, Overall, and percentage based financials to see which option works best. </a:t>
            </a:r>
            <a:endParaRPr sz="1600"/>
          </a:p>
        </p:txBody>
      </p:sp>
      <p:sp>
        <p:nvSpPr>
          <p:cNvPr id="67" name="Google Shape;67;p15"/>
          <p:cNvSpPr txBox="1"/>
          <p:nvPr/>
        </p:nvSpPr>
        <p:spPr>
          <a:xfrm>
            <a:off x="311700" y="1017725"/>
            <a:ext cx="852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Our paper investigates the impact data fusion can have on classification model performance through the lens of how school district funding can determine educational attainment. 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</a:t>
            </a:r>
            <a:endParaRPr/>
          </a:p>
        </p:txBody>
      </p:sp>
      <p:sp>
        <p:nvSpPr>
          <p:cNvPr id="78" name="Google Shape;78;p17"/>
          <p:cNvSpPr txBox="1"/>
          <p:nvPr/>
        </p:nvSpPr>
        <p:spPr>
          <a:xfrm>
            <a:off x="311700" y="1017725"/>
            <a:ext cx="85206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Chango et al. 2021 - Multi-source and multimodal data fusion for predicting academic performance in blended learning university courses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This paper forms the basis of our methodology 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The raw data included class performance, online logs, lecture videos, and an interactive session. 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That data was process and transformed.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Transformed data was used to train a series of classification models. 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The experiment repeated this 4 times with increasing preprocessing. 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Meng et al. 2020 -  survey on machine learning for data fusion</a:t>
            </a:r>
            <a:endParaRPr sz="1700">
              <a:solidFill>
                <a:schemeClr val="dk2"/>
              </a:solidFill>
            </a:endParaRPr>
          </a:p>
          <a:p>
            <a:pPr indent="-33655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The authors in this paper are doing a litterature review to better understand the current state of data fusion given the increasing advancements in machine learning. </a:t>
            </a:r>
            <a:endParaRPr sz="1700">
              <a:solidFill>
                <a:schemeClr val="dk2"/>
              </a:solidFill>
            </a:endParaRPr>
          </a:p>
          <a:p>
            <a:pPr indent="-33655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Focus is on wide application and current technique. 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</a:t>
            </a:r>
            <a:endParaRPr/>
          </a:p>
        </p:txBody>
      </p:sp>
      <p:sp>
        <p:nvSpPr>
          <p:cNvPr id="84" name="Google Shape;84;p18"/>
          <p:cNvSpPr txBox="1"/>
          <p:nvPr/>
        </p:nvSpPr>
        <p:spPr>
          <a:xfrm>
            <a:off x="311700" y="1017725"/>
            <a:ext cx="85206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Meng et al. 2020 -  survey on machine learning for data fusion</a:t>
            </a:r>
            <a:endParaRPr sz="1700">
              <a:solidFill>
                <a:schemeClr val="dk2"/>
              </a:solidFill>
            </a:endParaRPr>
          </a:p>
          <a:p>
            <a:pPr indent="-33655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They provide a framework of 7 criteria to determine the effectiveness of a data fusion process that we use to inform our evaluation. </a:t>
            </a:r>
            <a:endParaRPr sz="1700">
              <a:solidFill>
                <a:schemeClr val="dk2"/>
              </a:solidFill>
            </a:endParaRPr>
          </a:p>
          <a:p>
            <a:pPr indent="-336550" lvl="2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</a:pPr>
            <a:r>
              <a:rPr lang="en" sz="1700">
                <a:solidFill>
                  <a:schemeClr val="dk2"/>
                </a:solidFill>
              </a:rPr>
              <a:t>Efficiency, Benefit, Stability, Robustness, Extensibility, Privacy, and real-world testing.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Joydeep 2011</a:t>
            </a:r>
            <a:r>
              <a:rPr lang="en" sz="1700">
                <a:solidFill>
                  <a:schemeClr val="dk2"/>
                </a:solidFill>
              </a:rPr>
              <a:t>- Impact of school finance reform on resource equalization and</a:t>
            </a:r>
            <a:endParaRPr sz="17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academic performance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This paper examines the impacts of Michigans Legislative overhaul to school funding that took place in 1994. 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The author was able to track school performance overtime to comment on how different cohorts of schools performed overtime. 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They found that low performing schools saw the most benefit when funding was equalized, but high performing schools did not decline meaningfully. 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lang="en" sz="1700">
                <a:solidFill>
                  <a:schemeClr val="dk2"/>
                </a:solidFill>
              </a:rPr>
              <a:t>Notable that this impact was only seen in state standardized testing and did not extend to the ACT, a national standardized test.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 &amp; Fusion Strategy: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Three-Source Integration: Merges district-level data from SEDA 6.0 (Achievement), NCES F-33 (Finance), and SEDA Covariates (Demographics).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Target Variable: Uses Empirical Bayes (EB) adjusted composite scores to represent average achievement.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Competing Funding Formulations: Evaluates three ways to aggregate Source B data: Per-Pupil, Aggregate Sum, and Percentage Allocation.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 Cleaning: Final dataset of 12,100 districts after filtering for missing values and outliers.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1" title="heatmap.png"/>
          <p:cNvPicPr preferRelativeResize="0"/>
          <p:nvPr/>
        </p:nvPicPr>
        <p:blipFill rotWithShape="1">
          <a:blip r:embed="rId3">
            <a:alphaModFix/>
          </a:blip>
          <a:srcRect b="3510" l="0" r="0" t="-3510"/>
          <a:stretch/>
        </p:blipFill>
        <p:spPr>
          <a:xfrm>
            <a:off x="-15039" y="12030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Correlation Heatmaps: Used to compare achievement with sub-scores and funding variables.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Key Findings: Achievement showed strong negative correlations with poverty indicators (SES composite).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Revenue Patterns: Local revenue (locrevpp) showed a positive association with achievement; federal revenue showed a negative relationship.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Redundancy Check: Identified perfect correlations between certain spending categories to justify feature removal.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Numerical Dataset: Features rescaled to a [0, 1] range using Min-Max normalization.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Discretized Dataset: Features binned into 'Low', 'Medium', and 'High' categories using equal-width binning.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Target Variable: The achievement target was binned using tertiles (quantiles) rather than equal-width.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Classifier Mapping: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Algorithm Selection: Utilized scikit-learn equivalents of the six Weka-based algorithms from the reference study.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Diverse Model Types: Included Decision Trees, Logistic Regression (JRip), and Neighbors (KNN).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Standardized Hyperparameters: Set specific criteria, such as a max depth of 10 for trees and k=5 for KNN.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Evaluation Method: All models tested using 10-fold stratified cross-validation.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Selection: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Technique: Applied SelectKBest to identify the most predictive features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Criteria: Selected features scoring above the mean, capped at a maximum of 5 features.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Statistical Tests: Used ANOVA F-statistics for numerical data and Mutual Information for discretized data.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Application: Selection was applied globally (Exp 2) and independently within each source (Exp 4).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 Fusion: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Decision-Level Fusion: Implemented by training independent models on each data source.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Soft Voting: Combined probability distributions from individual Source A, B, and C models.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Weighting Strategy: Applied a 2:1:2 weight ratio (Achievement:Finance:Demographics).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Rationale: Reflects the higher discriminative power of achievement and socioeconomic data.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370525" y="1660125"/>
            <a:ext cx="8520600" cy="14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800">
                <a:solidFill>
                  <a:schemeClr val="dk1"/>
                </a:solidFill>
              </a:rPr>
              <a:t>Data Preprocessing</a:t>
            </a:r>
            <a:endParaRPr sz="3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8947"/>
              <a:buFont typeface="Arial"/>
              <a:buNone/>
            </a:pPr>
            <a:r>
              <a:rPr lang="en" sz="3800"/>
              <a:t>Data Preprocessing</a:t>
            </a:r>
            <a:endParaRPr sz="3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Merging three national datasets into a district-level analytical frame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938" y="1663375"/>
            <a:ext cx="6788127" cy="321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305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&amp; Exclusion Criteria</a:t>
            </a:r>
            <a:endParaRPr/>
          </a:p>
        </p:txBody>
      </p:sp>
      <p:pic>
        <p:nvPicPr>
          <p:cNvPr id="150" name="Google Shape;1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800" y="1064251"/>
            <a:ext cx="7954402" cy="3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 Pipelines</a:t>
            </a:r>
            <a:endParaRPr/>
          </a:p>
        </p:txBody>
      </p:sp>
      <p:pic>
        <p:nvPicPr>
          <p:cNvPr id="156" name="Google Shape;15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125" y="1160150"/>
            <a:ext cx="813574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11700" y="335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Funding Aggregation</a:t>
            </a:r>
            <a:endParaRPr/>
          </a:p>
        </p:txBody>
      </p:sp>
      <p:pic>
        <p:nvPicPr>
          <p:cNvPr id="162" name="Google Shape;16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688" y="851150"/>
            <a:ext cx="8730625" cy="406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idx="1" type="body"/>
          </p:nvPr>
        </p:nvSpPr>
        <p:spPr>
          <a:xfrm>
            <a:off x="370525" y="1660125"/>
            <a:ext cx="8520600" cy="14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800">
                <a:solidFill>
                  <a:schemeClr val="dk1"/>
                </a:solidFill>
              </a:rPr>
              <a:t>Exper</a:t>
            </a:r>
            <a:r>
              <a:rPr lang="en" sz="3800">
                <a:solidFill>
                  <a:schemeClr val="dk1"/>
                </a:solidFill>
              </a:rPr>
              <a:t>i</a:t>
            </a:r>
            <a:r>
              <a:rPr lang="en" sz="3800">
                <a:solidFill>
                  <a:schemeClr val="dk1"/>
                </a:solidFill>
              </a:rPr>
              <a:t>ment &amp; Result</a:t>
            </a:r>
            <a:endParaRPr sz="3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118025" y="8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Experiment &amp; Result: Overview</a:t>
            </a:r>
            <a:endParaRPr sz="2500"/>
          </a:p>
        </p:txBody>
      </p:sp>
      <p:sp>
        <p:nvSpPr>
          <p:cNvPr id="173" name="Google Shape;173;p33"/>
          <p:cNvSpPr txBox="1"/>
          <p:nvPr/>
        </p:nvSpPr>
        <p:spPr>
          <a:xfrm>
            <a:off x="180750" y="719925"/>
            <a:ext cx="8782500" cy="42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●"/>
            </a:pPr>
            <a:r>
              <a:rPr lang="en" sz="1700">
                <a:solidFill>
                  <a:srgbClr val="434343"/>
                </a:solidFill>
              </a:rPr>
              <a:t>Four progressive fusion experiments adapted from Chango et al. (2021)</a:t>
            </a:r>
            <a:endParaRPr sz="1700">
              <a:solidFill>
                <a:srgbClr val="434343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○"/>
            </a:pPr>
            <a:r>
              <a:rPr lang="en" sz="1700">
                <a:solidFill>
                  <a:srgbClr val="434343"/>
                </a:solidFill>
              </a:rPr>
              <a:t>Experiment 1: Merging All Attributes</a:t>
            </a:r>
            <a:endParaRPr sz="1700">
              <a:solidFill>
                <a:srgbClr val="434343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○"/>
            </a:pPr>
            <a:r>
              <a:rPr lang="en" sz="1700">
                <a:solidFill>
                  <a:srgbClr val="434343"/>
                </a:solidFill>
              </a:rPr>
              <a:t>Experiment 2: Selecting the Best Attributes</a:t>
            </a:r>
            <a:endParaRPr sz="1700">
              <a:solidFill>
                <a:srgbClr val="434343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○"/>
            </a:pPr>
            <a:r>
              <a:rPr lang="en" sz="1700">
                <a:solidFill>
                  <a:srgbClr val="434343"/>
                </a:solidFill>
              </a:rPr>
              <a:t>Experiment 3: Using Ensembles (Decision-Level Fusion)</a:t>
            </a:r>
            <a:endParaRPr sz="1700">
              <a:solidFill>
                <a:srgbClr val="434343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○"/>
            </a:pPr>
            <a:r>
              <a:rPr lang="en" sz="1700">
                <a:solidFill>
                  <a:srgbClr val="434343"/>
                </a:solidFill>
              </a:rPr>
              <a:t>Experiment 4: Ensembles &amp; Selecting the Best Attributes</a:t>
            </a:r>
            <a:endParaRPr sz="1700">
              <a:solidFill>
                <a:srgbClr val="434343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●"/>
            </a:pPr>
            <a:r>
              <a:rPr lang="en" sz="1700">
                <a:solidFill>
                  <a:srgbClr val="434343"/>
                </a:solidFill>
              </a:rPr>
              <a:t>Data: 12,100 U.S. school districts </a:t>
            </a:r>
            <a:endParaRPr sz="1700">
              <a:solidFill>
                <a:srgbClr val="434343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●"/>
            </a:pPr>
            <a:r>
              <a:rPr lang="en" sz="1700">
                <a:solidFill>
                  <a:srgbClr val="434343"/>
                </a:solidFill>
              </a:rPr>
              <a:t>Classification Algorithm</a:t>
            </a:r>
            <a:endParaRPr sz="1700">
              <a:solidFill>
                <a:srgbClr val="434343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●"/>
            </a:pPr>
            <a:r>
              <a:rPr lang="en" sz="1700">
                <a:solidFill>
                  <a:srgbClr val="434343"/>
                </a:solidFill>
              </a:rPr>
              <a:t>10-fold Stratified CV </a:t>
            </a:r>
            <a:endParaRPr sz="1700">
              <a:solidFill>
                <a:srgbClr val="434343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●"/>
            </a:pPr>
            <a:r>
              <a:rPr lang="en" sz="1700">
                <a:solidFill>
                  <a:srgbClr val="434343"/>
                </a:solidFill>
              </a:rPr>
              <a:t> Evaluation metrics </a:t>
            </a:r>
            <a:endParaRPr sz="1700">
              <a:solidFill>
                <a:srgbClr val="434343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○"/>
            </a:pPr>
            <a:r>
              <a:rPr lang="en" sz="1700">
                <a:solidFill>
                  <a:srgbClr val="434343"/>
                </a:solidFill>
              </a:rPr>
              <a:t>Accuracy</a:t>
            </a:r>
            <a:endParaRPr sz="1700">
              <a:solidFill>
                <a:srgbClr val="434343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○"/>
            </a:pPr>
            <a:r>
              <a:rPr lang="en" sz="1700">
                <a:solidFill>
                  <a:srgbClr val="434343"/>
                </a:solidFill>
              </a:rPr>
              <a:t>Area under the ROC curve(AUC) </a:t>
            </a:r>
            <a:endParaRPr sz="17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/>
          <p:nvPr>
            <p:ph type="title"/>
          </p:nvPr>
        </p:nvSpPr>
        <p:spPr>
          <a:xfrm>
            <a:off x="92800" y="226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Experiment &amp; Result: Per-Pupil</a:t>
            </a:r>
            <a:endParaRPr sz="2500"/>
          </a:p>
        </p:txBody>
      </p:sp>
      <p:pic>
        <p:nvPicPr>
          <p:cNvPr id="179" name="Google Shape;17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88" y="1739725"/>
            <a:ext cx="8958425" cy="319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4"/>
          <p:cNvSpPr txBox="1"/>
          <p:nvPr/>
        </p:nvSpPr>
        <p:spPr>
          <a:xfrm>
            <a:off x="201700" y="930025"/>
            <a:ext cx="8782500" cy="8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Test which funding aggregation (Per-Pupil / Sum / Percentage) best predicts the achievement.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>
            <p:ph type="title"/>
          </p:nvPr>
        </p:nvSpPr>
        <p:spPr>
          <a:xfrm>
            <a:off x="97400" y="229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Experiment &amp; Result: Sum</a:t>
            </a:r>
            <a:endParaRPr sz="2500"/>
          </a:p>
        </p:txBody>
      </p:sp>
      <p:pic>
        <p:nvPicPr>
          <p:cNvPr id="186" name="Google Shape;18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50" y="1682500"/>
            <a:ext cx="8839200" cy="315003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5"/>
          <p:cNvSpPr txBox="1"/>
          <p:nvPr/>
        </p:nvSpPr>
        <p:spPr>
          <a:xfrm>
            <a:off x="97400" y="888000"/>
            <a:ext cx="8894100" cy="8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Verdana"/>
              <a:buChar char="●"/>
            </a:pPr>
            <a:r>
              <a:rPr lang="en" sz="1700">
                <a:solidFill>
                  <a:srgbClr val="434343"/>
                </a:solidFill>
                <a:latin typeface="Verdana"/>
                <a:ea typeface="Verdana"/>
                <a:cs typeface="Verdana"/>
                <a:sym typeface="Verdana"/>
              </a:rPr>
              <a:t>Test which funding aggregation (Per-Pupil / Sum / Percentage) best predicts the achievement.</a:t>
            </a:r>
            <a:endParaRPr sz="1700">
              <a:solidFill>
                <a:srgbClr val="43434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/>
          <p:nvPr>
            <p:ph type="title"/>
          </p:nvPr>
        </p:nvSpPr>
        <p:spPr>
          <a:xfrm>
            <a:off x="118425" y="251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&amp; Result: Percentage</a:t>
            </a:r>
            <a:endParaRPr/>
          </a:p>
        </p:txBody>
      </p:sp>
      <p:pic>
        <p:nvPicPr>
          <p:cNvPr id="193" name="Google Shape;19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75" y="1649150"/>
            <a:ext cx="8839200" cy="315003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6"/>
          <p:cNvSpPr txBox="1"/>
          <p:nvPr/>
        </p:nvSpPr>
        <p:spPr>
          <a:xfrm>
            <a:off x="260550" y="824388"/>
            <a:ext cx="7959000" cy="8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Char char="●"/>
            </a:pPr>
            <a:r>
              <a:rPr lang="en" sz="1700">
                <a:solidFill>
                  <a:srgbClr val="434343"/>
                </a:solidFill>
              </a:rPr>
              <a:t>Test which funding aggregation (Per-Pupil / Sum / Percentage) best predicts the achievement.</a:t>
            </a:r>
            <a:endParaRPr sz="17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type="title"/>
          </p:nvPr>
        </p:nvSpPr>
        <p:spPr>
          <a:xfrm>
            <a:off x="118425" y="251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/>
              <a:t>Overall Performance Comparison</a:t>
            </a:r>
            <a:endParaRPr b="1"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200" name="Google Shape;200;p37"/>
          <p:cNvSpPr txBox="1"/>
          <p:nvPr/>
        </p:nvSpPr>
        <p:spPr>
          <a:xfrm>
            <a:off x="378200" y="930075"/>
            <a:ext cx="8260800" cy="3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b="1" lang="en" sz="2000">
                <a:solidFill>
                  <a:schemeClr val="dk1"/>
                </a:solidFill>
              </a:rPr>
              <a:t>Best overall:</a:t>
            </a:r>
            <a:r>
              <a:rPr lang="en" sz="2000">
                <a:solidFill>
                  <a:schemeClr val="dk1"/>
                </a:solidFill>
              </a:rPr>
              <a:t> Experiment 1 with Sum Level Funding aggregation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b="1" lang="en" sz="2000">
                <a:solidFill>
                  <a:schemeClr val="dk1"/>
                </a:solidFill>
              </a:rPr>
              <a:t>Ranking</a:t>
            </a:r>
            <a:r>
              <a:rPr lang="en" sz="2000">
                <a:solidFill>
                  <a:schemeClr val="dk1"/>
                </a:solidFill>
              </a:rPr>
              <a:t>: Exp 1 &gt; Exp 3 &gt; Exp 4 &gt; Exp 2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Funding Aggregation: 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○"/>
            </a:pPr>
            <a:r>
              <a:rPr b="1" lang="en" sz="2000">
                <a:solidFill>
                  <a:schemeClr val="dk1"/>
                </a:solidFill>
              </a:rPr>
              <a:t>Aggregate Sum</a:t>
            </a:r>
            <a:r>
              <a:rPr lang="en" sz="2000">
                <a:solidFill>
                  <a:schemeClr val="dk1"/>
                </a:solidFill>
              </a:rPr>
              <a:t> consistently best (absolute resource scale preserved)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Per-Pupil second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Percentage worst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" sz="2000">
                <a:solidFill>
                  <a:schemeClr val="dk1"/>
                </a:solidFill>
              </a:rPr>
              <a:t>Subset selection </a:t>
            </a:r>
            <a:r>
              <a:rPr b="1" lang="en" sz="2000">
                <a:solidFill>
                  <a:schemeClr val="dk1"/>
                </a:solidFill>
              </a:rPr>
              <a:t>reduces </a:t>
            </a:r>
            <a:r>
              <a:rPr lang="en" sz="2000">
                <a:solidFill>
                  <a:schemeClr val="dk1"/>
                </a:solidFill>
              </a:rPr>
              <a:t>performance (opposite of Chango et al.)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LogisticRegression shows consistently highest classification performance.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&amp; Limitation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&amp; Limitation</a:t>
            </a:r>
            <a:endParaRPr/>
          </a:p>
        </p:txBody>
      </p:sp>
      <p:sp>
        <p:nvSpPr>
          <p:cNvPr id="211" name="Google Shape;21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&amp; Aggregation: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Performance Stability: All four fusion approaches produced consistent classification accuracies between 66% and 69%.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Optimal Funding Method: The aggregate-sum formulation (Source B_SUM) marginally outperformed per-pupil and percentage-based models.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Value of Absolute Scale: Preserving the raw scale of district resources captures more meaningful variation than over-normalizing data.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Simplest Model Wins: Unlike the reference study, our simplest "naïve-merge" (Experiment 1) remained the most effective.</a:t>
            </a:r>
            <a:endParaRPr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Discussion &amp; Limitation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Dominance of Socioeconomic Context: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Socioeconomic Dominance: Feature selection consistently retained only Source C variables, such as poverty rates and SES index.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Funding as a Mediator: Finance features only exert influence primarily through their connection to local property-tax capacity.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Policy Implications: Funding reforms are unlikely to shift achievement significantly unless they also address underlying wealth disparities.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Successful Targeting: High federal revenue serves as a marker for high-poverty districts receiving compensatory aid.</a:t>
            </a:r>
            <a:endParaRPr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Discussion &amp; Limitation</a:t>
            </a:r>
            <a:endParaRPr/>
          </a:p>
        </p:txBody>
      </p:sp>
      <p:sp>
        <p:nvSpPr>
          <p:cNvPr id="223" name="Google Shape;22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Against Fusion Criteria: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Efficiency &amp; Benefit: The pipeline was efficient (single-pass merge) and beneficial, achieving a high AUC of up to 0.86.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Robustness: Discretized data representations consistently outperformed raw numerical data, mirroring previous research.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Extensibility: The four-stage fusion framework is general enough to be applied to other multi-source educational datasets.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Real-World Validation: Unlike synthetic benchmarks, this approach was validated using real-world public administrative data.</a:t>
            </a:r>
            <a:endParaRPr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Discussion &amp; Limitation</a:t>
            </a:r>
            <a:endParaRPr/>
          </a:p>
        </p:txBody>
      </p:sp>
      <p:sp>
        <p:nvSpPr>
          <p:cNvPr id="229" name="Google Shape;22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Cross-Sectional Design: The analysis used a single year of finance data (2018-19) against pooled 10-year achievement scores.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Sample Exclusion: Removing small districts (&lt;50 students) may under-represent rural areas with unique funding challenges.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Target Coarsening: Binning achievement into tertiles (Low, Med, High) sacrifices the granularity of continuous scores.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Model Restrictions: Focus was limited to six "white-box" classifiers to prioritize interpretability over raw power.</a:t>
            </a:r>
            <a:endParaRPr sz="1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Future Work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Future Work</a:t>
            </a:r>
            <a:endParaRPr/>
          </a:p>
        </p:txBody>
      </p:sp>
      <p:sp>
        <p:nvSpPr>
          <p:cNvPr id="240" name="Google Shape;240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Study Objective: Adapted the Chango et al. data fusion framework to determine which funding aggregation best predicts district-level achievement.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Sample &amp; Method: Evaluated 12,100 U.S. school districts using six white-box classifiers on both numerical and discretized data.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Top Performing Model: The simplest "naïve-merge" approach (Experiment 1) consistently yielded the strongest results.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Leading Funding Aggregation: The aggregate-sum formulation achieved the highest performance with 68.94% accuracy.</a:t>
            </a:r>
            <a:endParaRPr sz="1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Conclusion &amp; Future Work</a:t>
            </a:r>
            <a:endParaRPr/>
          </a:p>
        </p:txBody>
      </p:sp>
      <p:sp>
        <p:nvSpPr>
          <p:cNvPr id="246" name="Google Shape;24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Socioeconomic Dominance: Results confirm that socioeconomic variables, particularly poverty markers, overwhelmingly dominate classification.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Local Revenue as a Mediator: Finance features were most meaningful when tied to local revenue, which acts as a proxy for neighborhood wealth.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Methodological Recommendation: Research should prioritize absolute-scale funding variables over over-normalizing data.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Framework Validation: The pipeline satisfied criteria for efficiency, benefit, robustness, and extensibility.</a:t>
            </a:r>
            <a:endParaRPr sz="1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Conclusion &amp; Future Work</a:t>
            </a:r>
            <a:endParaRPr/>
          </a:p>
        </p:txBody>
      </p:sp>
      <p:sp>
        <p:nvSpPr>
          <p:cNvPr id="252" name="Google Shape;252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Longitudinal Analysis: Moving from cross-sectional data to multi-year panels to model lagged effects and causal dynamics.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Advanced Classifiers: Testing more sophisticated models, such as gradient-boosted ensembles, while maintaining interpretability.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Finer Granularity: Applying the framework to individual school-level data or international datasets.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Hybrid Architectures: Exploring fusion architectures that explicitly weight finance streams by their correlation with local wealth.</a:t>
            </a:r>
            <a:endParaRPr sz="1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References</a:t>
            </a:r>
            <a:endParaRPr/>
          </a:p>
        </p:txBody>
      </p:sp>
      <p:sp>
        <p:nvSpPr>
          <p:cNvPr id="258" name="Google Shape;258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[1] E. J. Baron, J. Hyman, and B. Vasquez, “Public school funding, school quality, and adult crime,” Review of Economics and Statistics, pp. 1–18, 2026.</a:t>
            </a:r>
            <a:endParaRPr sz="13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[2] W. Chango, R. Cerezo, and C. Romero, “Multi-source and multimodal data fusion for predicting academic performance in blended learning university courses,” Computers &amp; Electrical Engineering, vol. 89, p. 106908, 2021.</a:t>
            </a:r>
            <a:endParaRPr sz="13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[3] T. Meng, X. Jing, Z. Yan, and W. Pedrycz, “A survey on machine learning for data fusion,” Information Fusion, vol. 57, pp. 115–129, 2020.</a:t>
            </a:r>
            <a:endParaRPr sz="13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[4] J. Roy, “Impact of school finance reform on resource equalization and academic performance: Evidence from michigan,” Education Finance and Policy, vol. 6, no. 2, pp. 137–167, 2011.</a:t>
            </a:r>
            <a:endParaRPr sz="13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[5] National Center for Education Statistics, “Common core of data (ccd): Data files,” https://nces.ed.gov/ccd/files.asp, 2024, u.S. Department of Education. Accessed: 2026-03-20.</a:t>
            </a:r>
            <a:endParaRPr sz="13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[6] S. F. Reardon, A. D. Ho, B. R. Shear, E. M. Fahle, D. Kalogrides, and J. Saliba, “Stanford education data archive (version 6.0),” https://purl. stanford.edu/xh833nn4025, 2026, retrieved from Stanford University.</a:t>
            </a:r>
            <a:endParaRPr sz="13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[7] Stanford University, Educational Opportunity Project, “Educational opportunity project,” https://edopportunity.org/opportunity/, 2026, accessed: 2026-04-14.</a:t>
            </a:r>
            <a:endParaRPr sz="13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[8] A. Nadeem, I. Naznin, M. I. Khaled, and K. Williams, “Cis635-project,” https://github.com/alyshain/CIS635-Project, 2026, gitHub repository. Accessed: 2026-04-14.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